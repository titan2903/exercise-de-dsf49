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9.xml" ContentType="application/vnd.openxmlformats-officedocument.presentationml.slide+xml"/>
  <Override PartName="/ppt/slideLayouts/slideLayout2.xml" ContentType="application/vnd.openxmlformats-officedocument.presentationml.slideLayout+xml"/>
  <Override PartName="/ppt/slides/slide5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slideLayouts/slideLayout11.xml" ContentType="application/vnd.openxmlformats-officedocument.presentationml.slideLayout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2.xml" ContentType="application/vnd.openxmlformats-officedocument.presentationml.slide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14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6858000" type="screen4x3"/>
  <p:notesSz cx="6858000" cy="9144000"/>
  <p:defaultTextStyle>
    <a:defPPr>
      <a:defRPr lang="en-US"/>
    </a:defPPr>
    <a:lvl1pPr marL="0" algn="l" defTabSz="4572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 /><Relationship Id="rId16" Type="http://schemas.openxmlformats.org/officeDocument/2006/relationships/tableStyles" Target="tableStyles.xml" /><Relationship Id="rId17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66011F6-8948-4F83-4BAD-7DC47F5DCB15}" type="slidenum">
              <a:rPr/>
              <a:t/>
            </a:fld>
            <a:endParaRPr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E1C8644-E76B-B569-91CF-A5F13E84403B}" type="slidenum">
              <a:rPr/>
              <a:t/>
            </a:fld>
            <a:endParaRPr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C186BE3-FD77-2DEF-6509-6D661BF29663}" type="slidenum">
              <a:rPr/>
              <a:t/>
            </a:fld>
            <a:endParaRPr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AC8C072-65A8-FCCF-A0EF-CCE3529546DC}" type="slidenum">
              <a:rPr/>
              <a:t/>
            </a:fld>
            <a:endParaRPr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CF63B3A-FC50-D93A-ABCE-BFBB869EAA4F}" type="slidenum">
              <a:rPr/>
              <a:t/>
            </a:fld>
            <a:endParaRPr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2BA34E-7362-7978-68DE-CFE9EBA78C19}" type="slidenum">
              <a:rPr/>
              <a:t/>
            </a:fld>
            <a:endParaRPr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6181E5C-912D-970E-EA5D-87E9DCA976F0}" type="slidenum">
              <a:rPr/>
              <a:t/>
            </a:fld>
            <a:endParaRPr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CA2A4B8-0596-CD02-C0B8-F3481751D188}" type="slidenum">
              <a:rPr/>
              <a:t/>
            </a:fld>
            <a:endParaRPr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B61D39-0FF9-6011-8774-72E040C5C8E9}" type="slidenum">
              <a:rPr/>
              <a:t/>
            </a:fld>
            <a:endParaRPr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8096B99-8461-89E7-1DB3-7AECDE723F93}" type="slidenum">
              <a:rPr/>
              <a:t/>
            </a:fld>
            <a:endParaRPr/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r>
              <a:rPr b="1"/>
              <a:t>Proyek Data Engineer Dibimbing</a:t>
            </a:r>
            <a:endParaRPr b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r>
              <a:rPr>
                <a:solidFill>
                  <a:schemeClr val="tx1"/>
                </a:solidFill>
              </a:rPr>
              <a:t>Studi Kasus: Hotel Bookings Dataset</a:t>
            </a:r>
            <a:endParaRPr>
              <a:solidFill>
                <a:schemeClr val="tx1"/>
              </a:solidFill>
            </a:endParaRPr>
          </a:p>
          <a:p>
            <a:pPr>
              <a:defRPr/>
            </a:pPr>
            <a:r>
              <a:rPr>
                <a:solidFill>
                  <a:schemeClr val="tx1"/>
                </a:solidFill>
              </a:rPr>
              <a:t>Nama: Titanio Yudista</a:t>
            </a:r>
            <a:endParaRPr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Tujuan Proyek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 sz="2000"/>
            </a:pPr>
            <a:r>
              <a:rPr/>
              <a:t>Mengolah data raw hotel bookings menjadi dataset siap analisis.</a:t>
            </a:r>
            <a:endParaRPr/>
          </a:p>
          <a:p>
            <a:pPr>
              <a:defRPr sz="2000"/>
            </a:pPr>
            <a:r>
              <a:rPr/>
              <a:t>Melakukan data quality check, cleansing, dan filtering data relevan.</a:t>
            </a:r>
            <a:endParaRPr/>
          </a:p>
          <a:p>
            <a:pPr>
              <a:defRPr sz="2000"/>
            </a:pPr>
            <a:r>
              <a:rPr/>
              <a:t>Menerapkan data governance: masking data sensitif + data dictionary.</a:t>
            </a:r>
            <a:endParaRPr/>
          </a:p>
          <a:p>
            <a:pPr>
              <a:defRPr sz="2000"/>
            </a:pPr>
            <a:r>
              <a:rPr/>
              <a:t>Menyediakan output terstandar dalam format CSV dan Excel.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Sumber Data &amp; Ruang Lingkup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 sz="2000"/>
            </a:pPr>
            <a:r>
              <a:rPr/>
              <a:t>Sumber: hotel_bookings.csv (dataset transaksi pemesanan hotel).</a:t>
            </a:r>
            <a:endParaRPr/>
          </a:p>
          <a:p>
            <a:pPr>
              <a:defRPr sz="2000"/>
            </a:pPr>
            <a:r>
              <a:rPr/>
              <a:t>Total data raw: 119,390 baris, 32 kolom.</a:t>
            </a:r>
            <a:endParaRPr/>
          </a:p>
          <a:p>
            <a:pPr>
              <a:defRPr sz="2000"/>
            </a:pPr>
            <a:r>
              <a:rPr/>
              <a:t>Data final setelah cleansing &amp; filtering: 86,638 baris.</a:t>
            </a:r>
            <a:endParaRPr/>
          </a:p>
          <a:p>
            <a:pPr>
              <a:defRPr sz="2000"/>
            </a:pPr>
            <a:r>
              <a:rPr/>
              <a:t>Baris tersaring (duplikat/anomali): 32,752 baris.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Metodologi Data Pipeline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 sz="2000"/>
            </a:pPr>
            <a:r>
              <a:rPr/>
              <a:t>1) Ingest data raw CSV ke pandas DataFrame.</a:t>
            </a:r>
            <a:endParaRPr/>
          </a:p>
          <a:p>
            <a:pPr>
              <a:defRPr sz="2000"/>
            </a:pPr>
            <a:r>
              <a:rPr/>
              <a:t>2) Data quality check: missing value, duplikasi, validitas numerik.</a:t>
            </a:r>
            <a:endParaRPr/>
          </a:p>
          <a:p>
            <a:pPr>
              <a:defRPr sz="2000"/>
            </a:pPr>
            <a:r>
              <a:rPr/>
              <a:t>3) Cleansing: standardisasi kolom, parsing tanggal, imputasi children=0.</a:t>
            </a:r>
            <a:endParaRPr/>
          </a:p>
          <a:p>
            <a:pPr>
              <a:defRPr sz="2000"/>
            </a:pPr>
            <a:r>
              <a:rPr/>
              <a:t>4) Filtering: total_guests&gt;0, total_nights&gt;0, adr&gt;=0.</a:t>
            </a:r>
            <a:endParaRPr/>
          </a:p>
          <a:p>
            <a:pPr>
              <a:defRPr sz="2000"/>
            </a:pPr>
            <a:r>
              <a:rPr/>
              <a:t>5) Governance: hash agent/company dan masking country.</a:t>
            </a:r>
            <a:endParaRPr/>
          </a:p>
          <a:p>
            <a:pPr>
              <a:defRPr sz="2000"/>
            </a:pPr>
            <a:r>
              <a:rPr/>
              <a:t>6) Ekspor clean dataset, governed dataset, dan data dictionary.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Hasil Quality Check: Missing Values</a:t>
            </a:r>
            <a:endParaRPr/>
          </a:p>
        </p:txBody>
      </p:sp>
      <p:pic>
        <p:nvPicPr>
          <p:cNvPr id="3" name="Picture 2" descr="missing_top5.png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731520" y="1280160"/>
            <a:ext cx="10698480" cy="601789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 bwMode="auto">
          <a:xfrm>
            <a:off x="731520" y="61264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rPr/>
              <a:t>Catatan: missing terbesar ada pada field bisnis seperti company/agent yang memang tidak selalu terisi.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Implementasi Data Governance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 sz="2000"/>
            </a:pPr>
            <a:r>
              <a:rPr/>
              <a:t>Data sensitif yang diproteksi: agent, company, country.</a:t>
            </a:r>
            <a:endParaRPr/>
          </a:p>
          <a:p>
            <a:pPr>
              <a:defRPr sz="2000"/>
            </a:pPr>
            <a:r>
              <a:rPr/>
              <a:t>Teknik masking: SHA-256 hashing (agent/company) + partial masking (country).</a:t>
            </a:r>
            <a:endParaRPr/>
          </a:p>
          <a:p>
            <a:pPr>
              <a:defRPr sz="2000"/>
            </a:pPr>
            <a:r>
              <a:rPr/>
              <a:t>Kolom asli sensitif tidak dipakai pada governed output.</a:t>
            </a:r>
            <a:endParaRPr/>
          </a:p>
          <a:p>
            <a:pPr>
              <a:defRPr sz="2000"/>
            </a:pPr>
            <a:r>
              <a:rPr/>
              <a:t>Data dictionary tersedia dengan 34 baris metadata kolom.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457199" y="60797"/>
            <a:ext cx="8229600" cy="1356840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5000" lnSpcReduction="1000"/>
          </a:bodyPr>
          <a:lstStyle/>
          <a:p>
            <a:pPr>
              <a:defRPr/>
            </a:pPr>
            <a:r>
              <a:rPr/>
              <a:t>Insight 1: Cancellation Rate per Hotel</a:t>
            </a:r>
            <a:endParaRPr/>
          </a:p>
        </p:txBody>
      </p:sp>
      <p:pic>
        <p:nvPicPr>
          <p:cNvPr id="3" name="Picture 2" descr="cancel_rate.png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-160181" y="1086903"/>
            <a:ext cx="9261671" cy="601789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 bwMode="auto">
          <a:xfrm flipH="0" flipV="0">
            <a:off x="-160181" y="6870159"/>
            <a:ext cx="10699200" cy="305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/>
            </a:pPr>
            <a:r>
              <a:rPr/>
              <a:t>Terlihat perbedaan tingkat pembatalan antara tipe hotel, relevan untuk strategi operasional.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Insight 2: Tren ADR Bulanan</a:t>
            </a:r>
            <a:endParaRPr/>
          </a:p>
        </p:txBody>
      </p:sp>
      <p:pic>
        <p:nvPicPr>
          <p:cNvPr id="3" name="Picture 2" descr="adr_trend.png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-18320" y="1057234"/>
            <a:ext cx="9200873" cy="601789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 bwMode="auto">
          <a:xfrm>
            <a:off x="305934" y="640080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rPr/>
              <a:t>Rata-rata ADR menunjukkan pola musiman yang bisa dipakai untuk pricing strategy.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Output Deliverables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 sz="2000"/>
            </a:pPr>
            <a:r>
              <a:rPr/>
              <a:t>outputs/hotel_bookings_clean.csv</a:t>
            </a:r>
            <a:endParaRPr/>
          </a:p>
          <a:p>
            <a:pPr>
              <a:defRPr sz="2000"/>
            </a:pPr>
            <a:r>
              <a:rPr/>
              <a:t>outputs/hotel_bookings_governed.csv</a:t>
            </a:r>
            <a:endParaRPr/>
          </a:p>
          <a:p>
            <a:pPr>
              <a:defRPr sz="2000"/>
            </a:pPr>
            <a:r>
              <a:rPr/>
              <a:t>outputs/data_dictionary.csv</a:t>
            </a:r>
            <a:endParaRPr/>
          </a:p>
          <a:p>
            <a:pPr>
              <a:defRPr sz="2000"/>
            </a:pPr>
            <a:r>
              <a:rPr/>
              <a:t>outputs/hotel_bookings_output.xlsx (sheet: cleaned, governed, data_dictionary)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Kesimpulan &amp; Next Step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 sz="2000"/>
            </a:pPr>
            <a:r>
              <a:rPr/>
              <a:t>Pipeline berhasil mengubah data raw menjadi data siap konsumsi bisnis.</a:t>
            </a:r>
            <a:endParaRPr/>
          </a:p>
          <a:p>
            <a:pPr>
              <a:defRPr sz="2000"/>
            </a:pPr>
            <a:r>
              <a:rPr/>
              <a:t>Governance sudah diterapkan untuk melindungi informasi sensitif.</a:t>
            </a:r>
            <a:endParaRPr/>
          </a:p>
          <a:p>
            <a:pPr>
              <a:defRPr sz="2000"/>
            </a:pPr>
            <a:r>
              <a:rPr/>
              <a:t>Insight awal menunjukkan peluang optimasi pembatalan dan pricing.</a:t>
            </a:r>
            <a:endParaRPr/>
          </a:p>
          <a:p>
            <a:pPr>
              <a:defRPr sz="2000"/>
            </a:pPr>
            <a:r>
              <a:rPr/>
              <a:t>Next step: bangun dashboard BI dan otomasi pipeline (Airflow/Prefect).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ONLYOFFICE/8.3.1.25</Application>
  <PresentationFormat>On-screen Show (4:3)</PresentationFormat>
  <Paragraphs>0</Paragraphs>
  <Slides>10</Slides>
  <Notes>10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2</cp:revision>
  <dcterms:created xsi:type="dcterms:W3CDTF">2013-01-27T09:14:16Z</dcterms:created>
  <dcterms:modified xsi:type="dcterms:W3CDTF">2026-03-29T03:39:52Z</dcterms:modified>
  <cp:category/>
</cp:coreProperties>
</file>